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3000" b="1">
                <a:solidFill>
                  <a:srgbClr val="1C8058"/>
                </a:solidFill>
                <a:latin typeface="Aptos"/>
              </a:rPr>
              <a:t>MastiSense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500" b="0">
                <a:solidFill>
                  <a:srgbClr val="122330"/>
                </a:solidFill>
                <a:latin typeface="Aptos"/>
              </a:rPr>
              <a:t>Problem Statement ID – [ENTER OFFICIAL ID]
Problem Statement Title – AI-Based Predictive Modelling for Early Forecasting of Bovine Mastitis in Indian Dairy Farms
Theme – [ENTER OFFICIAL THEME]
PS Category – Software/Hardware
Team ID – [ENTER TEAM ID]
Team Name – [ENTER REGISTERED TEAM NAME]</a:t>
            </a:r>
            <a:endParaRPr lang="en-US" dirty="0"/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77240" y="44348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8058"/>
                </a:solidFill>
                <a:latin typeface="Aptos"/>
              </a:rPr>
              <a:t>Predict. Prevent. Protect.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777240" y="4956048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870"/>
                </a:solidFill>
                <a:latin typeface="Aptos"/>
              </a:rPr>
              <a:t>AI-powered early mastitis risk forecasting for Indian dairy farms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411480" y="1234440"/>
            <a:ext cx="10972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411480" y="1234440"/>
            <a:ext cx="64008" cy="932688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76072" y="1316736"/>
            <a:ext cx="10716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76072" y="1655064"/>
            <a:ext cx="107167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5C6870"/>
                </a:solidFill>
                <a:latin typeface="Aptos"/>
              </a:rPr>
              <a:t>MastiSense AI forecasts a cow's near-term mastitis risk from milk, animal and historical trends—then explains the warning so the farmer/extension worker can prioritize physical examination.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12648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69848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330"/>
                </a:solidFill>
                <a:latin typeface="Aptos"/>
              </a:rPr>
              <a:t>Routine data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30936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Milk • EC • Temp • SCC*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2532888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2761488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2871216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328416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330"/>
                </a:solidFill>
                <a:latin typeface="Aptos"/>
              </a:rPr>
              <a:t>Trend engine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889504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Baselines • rolling trends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4791456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5020056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5129784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586984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330"/>
                </a:solidFill>
                <a:latin typeface="Aptos"/>
              </a:rPr>
              <a:t>AI model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148072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Risk probability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7050024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2" name="Rounded Rectangle 15381"/>
          <p:cNvSpPr/>
          <p:nvPr/>
        </p:nvSpPr>
        <p:spPr>
          <a:xfrm>
            <a:off x="7278624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388352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7845552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330"/>
                </a:solidFill>
                <a:latin typeface="Aptos"/>
              </a:rPr>
              <a:t>Explain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7406640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Why risk is rising</a:t>
            </a:r>
          </a:p>
        </p:txBody>
      </p:sp>
      <p:cxnSp>
        <p:nvCxnSpPr>
          <p:cNvPr id="15386" name="Connector 15385"/>
          <p:cNvCxnSpPr/>
          <p:nvPr/>
        </p:nvCxnSpPr>
        <p:spPr>
          <a:xfrm>
            <a:off x="9308592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Rounded Rectangle 15386"/>
          <p:cNvSpPr/>
          <p:nvPr/>
        </p:nvSpPr>
        <p:spPr>
          <a:xfrm>
            <a:off x="9537192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9646920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10104120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22330"/>
                </a:solidFill>
                <a:latin typeface="Aptos"/>
              </a:rPr>
              <a:t>Action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9665208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Early examination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5029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ectangle 15391"/>
          <p:cNvSpPr/>
          <p:nvPr/>
        </p:nvSpPr>
        <p:spPr>
          <a:xfrm>
            <a:off x="502920" y="3675887"/>
            <a:ext cx="64008" cy="141732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6675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675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870"/>
                </a:solidFill>
                <a:latin typeface="Aptos"/>
              </a:rPr>
              <a:t>• Flags subtle changes before obvious symptoms
• Prioritizes cows needing attention
• Supports low-tech farms through manual entry
• Reduces dependence on expensive infrastructure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41605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4160520" y="3675887"/>
            <a:ext cx="64008" cy="1417320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43251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INNOVATION / UNIQUENESS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43251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870"/>
                </a:solidFill>
                <a:latin typeface="Aptos"/>
              </a:rPr>
              <a:t>• Forecasting, not just current-state detection
• Cow-specific baseline + temporal features
• Explainable risk score
• Manual → portable sensor → IoT pathway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78181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Rectangle 15399"/>
          <p:cNvSpPr/>
          <p:nvPr/>
        </p:nvSpPr>
        <p:spPr>
          <a:xfrm>
            <a:off x="7818120" y="3675887"/>
            <a:ext cx="64008" cy="1417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79827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MVP OUTPUT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79827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870"/>
                </a:solidFill>
                <a:latin typeface="Aptos"/>
              </a:rPr>
              <a:t>Cow #017
Risk: 78%  |  HIGH
EC ↑  •  Milk ↓  •  Temp ↑
Action: Prioritize physical examination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594360" y="5349240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5C6870"/>
                </a:solidFill>
                <a:latin typeface="Aptos"/>
              </a:rPr>
              <a:t>*SCC is used where available; the prototype remains useful when SCC is unavailable.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8058"/>
                </a:solidFill>
                <a:latin typeface="Aptos"/>
              </a:rPr>
              <a:t>TECHNOLOGY 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81328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94360" y="1481328"/>
            <a:ext cx="64008" cy="658368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563624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AI/ML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58952" y="1901952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Python • Pandas • NumPy • Scikit-learn
HistGradientBoosting + RF baseline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2267712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594360" y="2267712"/>
            <a:ext cx="64008" cy="658368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58952" y="2350008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Backend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58952" y="2688336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FastAPI • REST API • SQLite / PostgreSQL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054096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594360" y="3054096"/>
            <a:ext cx="64008" cy="658368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58952" y="3136391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Frontend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58952" y="3474720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React • Vite • Tailwind CSS • Responsive UI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840480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594360" y="3840480"/>
            <a:ext cx="64008" cy="658368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58952" y="3922776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Hardware (optional)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58952" y="4261104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ESP32 • EC sensor • Temperature • Milk-yield sensing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60520" y="10972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8058"/>
                </a:solidFill>
                <a:latin typeface="Aptos"/>
              </a:rPr>
              <a:t>PREDICTIVE PIPELINE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605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702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2702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5C6870"/>
                </a:solidFill>
                <a:latin typeface="Aptos"/>
              </a:rPr>
              <a:t>Milk yield
EC • Temp • SCC
Activity • history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5669279" y="2176272"/>
            <a:ext cx="210313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59893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0990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0990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5C6870"/>
                </a:solidFill>
                <a:latin typeface="Aptos"/>
              </a:rPr>
              <a:t>24h change
3/7-day rolling mean
Cow baseline deviation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7498079" y="2176272"/>
            <a:ext cx="210313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78181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79278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9278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5C6870"/>
                </a:solidFill>
                <a:latin typeface="Aptos"/>
              </a:rPr>
              <a:t>Gradient boosting
Probability output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326880" y="2176272"/>
            <a:ext cx="210312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646920" y="1554480"/>
            <a:ext cx="1508760" cy="1234440"/>
          </a:xfrm>
          <a:prstGeom prst="roundRect">
            <a:avLst/>
          </a:prstGeom>
          <a:solidFill>
            <a:srgbClr val="E5F6ED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9756648" y="1664208"/>
            <a:ext cx="777240" cy="310896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7566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>
                <a:solidFill>
                  <a:srgbClr val="5C6870"/>
                </a:solidFill>
                <a:latin typeface="Aptos"/>
              </a:rPr>
              <a:t>0–100 score
LOW / MOD / HIGH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60520" y="306324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4160520" y="3063240"/>
            <a:ext cx="64008" cy="1298448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4325112" y="3145536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EXPLAINABLE AI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325112" y="3483864"/>
            <a:ext cx="3081528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870"/>
                </a:solidFill>
                <a:latin typeface="Aptos"/>
              </a:rPr>
              <a:t>Example: Risk 78%
↑ EC deviation  •  ↓ milk yield
↑ temperature    •  prior history
Shows contributors, not a black-box label.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726679" y="3063240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7726679" y="3063240"/>
            <a:ext cx="64008" cy="1298448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7891271" y="314553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DEPLOYMENT MODEL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891271" y="3483864"/>
            <a:ext cx="3172968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870"/>
                </a:solidFill>
                <a:latin typeface="Aptos"/>
              </a:rPr>
              <a:t>Low-tech: manual measurements
Assisted: portable sensors
Smart dairy: ESP32 / IoT gateway
Same prediction engine across modes.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160520" y="4617720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8058"/>
                </a:solidFill>
                <a:latin typeface="Aptos"/>
              </a:rPr>
              <a:t>SYSTEM FLOW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16052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423367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8058"/>
                </a:solidFill>
                <a:latin typeface="Aptos"/>
              </a:rPr>
              <a:t>Cow / Farm
Data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542239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562356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569671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E787D"/>
                </a:solidFill>
                <a:latin typeface="Aptos"/>
              </a:rPr>
              <a:t>Feature
Engine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688543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708660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715975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E07E2C"/>
                </a:solidFill>
                <a:latin typeface="Aptos"/>
              </a:rPr>
              <a:t>AI Risk
Engine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8348471" y="5321808"/>
            <a:ext cx="155449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854964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62279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BE4141"/>
                </a:solidFill>
                <a:latin typeface="Aptos"/>
              </a:rPr>
              <a:t>Alert /
Dashboard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981151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Rounded Rectangle 17464"/>
          <p:cNvSpPr/>
          <p:nvPr/>
        </p:nvSpPr>
        <p:spPr>
          <a:xfrm>
            <a:off x="1001268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1008583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22330"/>
                </a:solidFill>
                <a:latin typeface="Aptos"/>
              </a:rPr>
              <a:t>Veterinary
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94360" y="114300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94360" y="1143000"/>
            <a:ext cx="64008" cy="4343400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122529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563624"/>
            <a:ext cx="3172968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870"/>
                </a:solidFill>
                <a:latin typeface="Aptos"/>
              </a:rPr>
              <a:t>• Lightweight tabular/time-series ML
• MVP runs on ordinary laptops/cloud instances
• Manual mode works without smart-dairy infrastructure
• Sensors can be added incrementally
• React + FastAPI enables rapid prototyping
• Modular architecture supports pilot deployment
MVP → Pilot Farm → Multi-Farm Validation → Scale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51960" y="114300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251960" y="1143000"/>
            <a:ext cx="64008" cy="4343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416552" y="122529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CHALLENGES &amp;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416552" y="1563624"/>
            <a:ext cx="3172968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870"/>
                </a:solidFill>
                <a:latin typeface="Aptos"/>
              </a:rPr>
              <a:t>• Limited longitudinal Indian mastitis datasets
• Sensor noise / missing values
• Farm and breed differences
• False positives / false negatives
• Low digital connectivity in some areas
• Clinical validation is required
Prototype = decision support, not autonomous diagnosis.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909560" y="1143000"/>
            <a:ext cx="3246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7909560" y="1143000"/>
            <a:ext cx="64008" cy="434340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074152" y="1225296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MITIGATION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074152" y="1563624"/>
            <a:ext cx="2990087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870"/>
                </a:solidFill>
                <a:latin typeface="Aptos"/>
              </a:rPr>
              <a:t>• Cow-specific baselines
• Missing-data handling
• Trend + multi-signal features
• Risk bands instead of binary diagnosis
• Explainable alerts
• Human/veterinary confirmation
• Real-farm pilot validation
• Manual/offline-friendly input pathway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7899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8058"/>
                </a:solidFill>
                <a:latin typeface="Aptos"/>
              </a:rPr>
              <a:t>WHO BENEFITS?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04088" y="1609344"/>
            <a:ext cx="114300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Dairy farmers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Earlier attention to high-risk cows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447288" y="1609344"/>
            <a:ext cx="1143000" cy="310896"/>
          </a:xfrm>
          <a:prstGeom prst="roundRect">
            <a:avLst/>
          </a:prstGeom>
          <a:solidFill>
            <a:srgbClr val="1E787D"/>
          </a:solidFill>
          <a:ln w="12700">
            <a:solidFill>
              <a:srgbClr val="1E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Extension workers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472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Prioritized field visits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0807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190488" y="1609344"/>
            <a:ext cx="1143000" cy="310896"/>
          </a:xfrm>
          <a:prstGeom prst="roundRect">
            <a:avLst/>
          </a:prstGeom>
          <a:solidFill>
            <a:srgbClr val="E07E2C"/>
          </a:solidFill>
          <a:ln w="12700">
            <a:solidFill>
              <a:srgbClr val="E0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Veterinary teams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904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Better triage information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8239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933688" y="1609344"/>
            <a:ext cx="1143000" cy="310896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Dairy cooperatives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9336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870"/>
                </a:solidFill>
                <a:latin typeface="Aptos"/>
              </a:rPr>
              <a:t>Scalable herd monitoring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2697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8058"/>
                </a:solidFill>
                <a:latin typeface="Aptos"/>
              </a:rPr>
              <a:t>FARMER VALUE CHAIN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040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8058"/>
                </a:solidFill>
                <a:latin typeface="Aptos"/>
              </a:rPr>
              <a:t>Earlier
warning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28346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31089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32186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787D"/>
                </a:solidFill>
                <a:latin typeface="Aptos"/>
              </a:rPr>
              <a:t>Faster
attention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53492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56235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57332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07E2C"/>
                </a:solidFill>
                <a:latin typeface="Aptos"/>
              </a:rPr>
              <a:t>Lower
avoidable loss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78638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81381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2478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E4141"/>
                </a:solidFill>
                <a:latin typeface="Aptos"/>
              </a:rPr>
              <a:t>Better
animal care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94360" y="4315968"/>
            <a:ext cx="4983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594360" y="4315968"/>
            <a:ext cx="64008" cy="1143000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58952" y="4398264"/>
            <a:ext cx="4727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SOCIAL &amp; ECONOMIC IMPACT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58952" y="4736592"/>
            <a:ext cx="472744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C6870"/>
                </a:solidFill>
                <a:latin typeface="Aptos"/>
              </a:rPr>
              <a:t>• Supports rural dairy livelihoods
• Makes predictive livestock monitoring accessible to smallholder farms
• Encourages earlier veterinary attention and data-driven farm management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806440" y="4315968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5806440" y="4315968"/>
            <a:ext cx="64008" cy="114300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5971031" y="4398264"/>
            <a:ext cx="50932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22330"/>
                </a:solidFill>
                <a:latin typeface="Aptos"/>
              </a:rPr>
              <a:t>SCALABILITY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71031" y="4736592"/>
            <a:ext cx="5093207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870"/>
                </a:solidFill>
                <a:latin typeface="Aptos"/>
              </a:rPr>
              <a:t>One cow → one farm → cooperative → district → state → India
Sensor-agnostic • low-cost pathway • cloud-ready • modular APIs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78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8058"/>
                </a:solidFill>
                <a:latin typeface="Aptos"/>
              </a:rPr>
              <a:t>RESEARCH BASIS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417320"/>
            <a:ext cx="105156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870"/>
                </a:solidFill>
                <a:latin typeface="Aptos"/>
              </a:rPr>
              <a:t>The MVP design is grounded in published work on milk electrical conductivity, somatic cell count, sensor-based dairy monitoring and machine-learning mastitis prediction.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965960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205740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122330"/>
                </a:solidFill>
                <a:latin typeface="Aptos"/>
              </a:rPr>
              <a:t>[1] Norberg, E. (2005).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834640" y="2048255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5" b="0">
                <a:solidFill>
                  <a:srgbClr val="5C6870"/>
                </a:solidFill>
                <a:latin typeface="Aptos"/>
              </a:rPr>
              <a:t>Electrical conductivity of milk as a phenotypic and genetic indicator of bovine mastitis: A review. Livestock Production Science, 96, 129–139. DOI: 10.1016/j.livprodsci.2004.12.014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2688336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58952" y="2779776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122330"/>
                </a:solidFill>
                <a:latin typeface="Aptos"/>
              </a:rPr>
              <a:t>[2] Nielen, M. et al. (1992).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834640" y="2770632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5" b="0">
                <a:solidFill>
                  <a:srgbClr val="5C6870"/>
                </a:solidFill>
                <a:latin typeface="Aptos"/>
              </a:rPr>
              <a:t>Electrical conductivity of milk: Measurement, modifiers, and meta analysis of mastitis detection performance. Journal of Dairy Science, 75(2), 606–614. DOI: 10.3168/jds.S0022-0302(92)77798-4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3410712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58952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122330"/>
                </a:solidFill>
                <a:latin typeface="Aptos"/>
              </a:rPr>
              <a:t>[3] Pan, L. et al. (2025).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834640" y="349300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5" b="0">
                <a:solidFill>
                  <a:srgbClr val="5C6870"/>
                </a:solidFill>
                <a:latin typeface="Aptos"/>
              </a:rPr>
              <a:t>Machine learning-based clinical mastitis detection in dairy cows using milk electrical conductivity and somatic cell count. Frontiers in Veterinary Science, 12, 1671186. DOI: 10.3389/fvets.2025.1671186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4360" y="4133087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8952" y="4224527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122330"/>
                </a:solidFill>
                <a:latin typeface="Aptos"/>
              </a:rPr>
              <a:t>[4] Shi, Y. et al. (2024).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834640" y="4215383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5" b="0">
                <a:solidFill>
                  <a:srgbClr val="5C6870"/>
                </a:solidFill>
                <a:latin typeface="Aptos"/>
              </a:rPr>
              <a:t>The prediction of clinical mastitis in dairy cows based on milk yield, rumination time, and milk electrical conductivity using machine learning algorithms. Animals, 14(3), 427.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4855464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58952" y="4946903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122330"/>
                </a:solidFill>
                <a:latin typeface="Aptos"/>
              </a:rPr>
              <a:t>[5] Sensor-based dairy monitoring literature.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834640" y="4937759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5" b="0">
                <a:solidFill>
                  <a:srgbClr val="5C6870"/>
                </a:solidFill>
                <a:latin typeface="Aptos"/>
              </a:rPr>
              <a:t>Published precision-livestock research supports combining milk and animal activity signals with decision-support models.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94360" y="5632704"/>
            <a:ext cx="10561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Aptos"/>
              </a:rPr>
              <a:t>Verified sources: ScienceDirect • PubMed • Frontiers in Veterinary Science • Animals / MDPI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