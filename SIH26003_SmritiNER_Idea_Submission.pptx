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anchor="ctr"/>
          <a:lstStyle/>
          <a:p>
            <a:pPr algn="ctr">
              <a:defRPr>
                <a:solidFill/>
              </a:defRPr>
            </a:pPr>
            <a:r>
              <a:t>SmritiNER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>
                <a:solidFill/>
              </a:defRPr>
            </a:pPr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defRPr>
                <a:solidFill/>
              </a:defRPr>
            </a:pPr>
            <a:r>
              <a:t>Problem Statement ID – SIH26003</a:t>
            </a:r>
            <a:endParaRPr lang="en-US" dirty="0"/>
          </a:p>
          <a:p>
            <a:r>
              <a:t>Problem Statement Title – AI-Based Cognitive Gaming and Memory Assistance Platform for Elderly Dementia Patients in the North Eastern Region (NER)</a:t>
            </a:r>
          </a:p>
          <a:p>
            <a:r>
              <a:t>Theme – MedTech / HealthTech / Software</a:t>
            </a:r>
          </a:p>
          <a:p>
            <a:r>
              <a:t>PS Category – Software</a:t>
            </a:r>
          </a:p>
          <a:p>
            <a:r>
              <a:t>Ministry / Organization – Ministry of Development of North Eastern Region (MDoNER)</a:t>
            </a:r>
          </a:p>
          <a:p>
            <a:r>
              <a:t>Team ID – [ENTER TEAM ID]</a:t>
            </a:r>
          </a:p>
          <a:p>
            <a:r>
              <a:t>Team Name – [ENTER REGISTERED TEAM NAME]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777240" y="4434840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Stimulate. Reminisce. Protect.</a:t>
            </a:r>
          </a:p>
        </p:txBody>
      </p:sp>
      <p:sp>
        <p:nvSpPr>
          <p:cNvPr id="1028" name="TextBox 1027"/>
          <p:cNvSpPr txBox="1"/>
          <p:nvPr/>
        </p:nvSpPr>
        <p:spPr>
          <a:xfrm>
            <a:off x="777240" y="4956048"/>
            <a:ext cx="5394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AI-driven adaptive cognitive stimulation, regional memory assistance &amp; caregiver monitoring for elderly dementia patients in 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>
                <a:solidFill/>
              </a:defRPr>
            </a:pPr>
            <a:r>
              <a:t>SMRITINER: AI COGNITIVE CARE FOR NER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3" name="Rounded Rectangle 15362"/>
          <p:cNvSpPr/>
          <p:nvPr/>
        </p:nvSpPr>
        <p:spPr>
          <a:xfrm>
            <a:off x="411480" y="1234440"/>
            <a:ext cx="109728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Rectangle 15363"/>
          <p:cNvSpPr/>
          <p:nvPr/>
        </p:nvSpPr>
        <p:spPr>
          <a:xfrm>
            <a:off x="411480" y="1234440"/>
            <a:ext cx="64008" cy="932688"/>
          </a:xfrm>
          <a:prstGeom prst="rect">
            <a:avLst/>
          </a:prstGeom>
          <a:solidFill>
            <a:srgbClr val="1C8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576072" y="1316736"/>
            <a:ext cx="107167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PROPOSED SOLUTION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576072" y="1655064"/>
            <a:ext cx="107167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SmritiNER provides tablet-first, offline-ready cognitive stimulation through 4 culturally grounded game domains, an AI adaptive difficulty engine, regional voice guidance, and an integrated caregiver monitoring portal.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502920" y="2395728"/>
            <a:ext cx="2029968" cy="96012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Rounded Rectangle 15367"/>
          <p:cNvSpPr/>
          <p:nvPr/>
        </p:nvSpPr>
        <p:spPr>
          <a:xfrm>
            <a:off x="612648" y="2514600"/>
            <a:ext cx="384048" cy="310896"/>
          </a:xfrm>
          <a:prstGeom prst="roundRect">
            <a:avLst/>
          </a:prstGeom>
          <a:solidFill>
            <a:srgbClr val="1C8058"/>
          </a:solidFill>
          <a:ln w="12700">
            <a:solidFill>
              <a:srgbClr val="1C8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1069848" y="24688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Cultural Stimuli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630936" y="2852928"/>
            <a:ext cx="1773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Bihu • Hornbill • Weaves</a:t>
            </a:r>
          </a:p>
        </p:txBody>
      </p:sp>
      <p:cxnSp>
        <p:nvCxnSpPr>
          <p:cNvPr id="15371" name="Connector 15370"/>
          <p:cNvCxnSpPr/>
          <p:nvPr/>
        </p:nvCxnSpPr>
        <p:spPr>
          <a:xfrm>
            <a:off x="2532888" y="2880360"/>
            <a:ext cx="237744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2" name="Rounded Rectangle 15371"/>
          <p:cNvSpPr/>
          <p:nvPr/>
        </p:nvSpPr>
        <p:spPr>
          <a:xfrm>
            <a:off x="2761488" y="2395728"/>
            <a:ext cx="2029968" cy="96012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Rounded Rectangle 15372"/>
          <p:cNvSpPr/>
          <p:nvPr/>
        </p:nvSpPr>
        <p:spPr>
          <a:xfrm>
            <a:off x="2871216" y="2514600"/>
            <a:ext cx="384048" cy="310896"/>
          </a:xfrm>
          <a:prstGeom prst="roundRect">
            <a:avLst/>
          </a:prstGeom>
          <a:solidFill>
            <a:srgbClr val="1C8058"/>
          </a:solidFill>
          <a:ln w="12700">
            <a:solidFill>
              <a:srgbClr val="1C8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3328416" y="24688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Telemetry Engine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2889504" y="2852928"/>
            <a:ext cx="1773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Latency • Hesitation • Errors</a:t>
            </a:r>
          </a:p>
        </p:txBody>
      </p:sp>
      <p:cxnSp>
        <p:nvCxnSpPr>
          <p:cNvPr id="15376" name="Connector 15375"/>
          <p:cNvCxnSpPr/>
          <p:nvPr/>
        </p:nvCxnSpPr>
        <p:spPr>
          <a:xfrm>
            <a:off x="4791456" y="2880360"/>
            <a:ext cx="237744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7" name="Rounded Rectangle 15376"/>
          <p:cNvSpPr/>
          <p:nvPr/>
        </p:nvSpPr>
        <p:spPr>
          <a:xfrm>
            <a:off x="5020056" y="2395728"/>
            <a:ext cx="2029968" cy="96012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Rounded Rectangle 15377"/>
          <p:cNvSpPr/>
          <p:nvPr/>
        </p:nvSpPr>
        <p:spPr>
          <a:xfrm>
            <a:off x="5129784" y="2514600"/>
            <a:ext cx="384048" cy="310896"/>
          </a:xfrm>
          <a:prstGeom prst="roundRect">
            <a:avLst/>
          </a:prstGeom>
          <a:solidFill>
            <a:srgbClr val="1C8058"/>
          </a:solidFill>
          <a:ln w="12700">
            <a:solidFill>
              <a:srgbClr val="1C8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5586984" y="24688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Adaptive AI Core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5148072" y="2852928"/>
            <a:ext cx="1773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Dynamic Scaffolding &amp; Level</a:t>
            </a:r>
          </a:p>
        </p:txBody>
      </p:sp>
      <p:cxnSp>
        <p:nvCxnSpPr>
          <p:cNvPr id="15381" name="Connector 15380"/>
          <p:cNvCxnSpPr/>
          <p:nvPr/>
        </p:nvCxnSpPr>
        <p:spPr>
          <a:xfrm>
            <a:off x="7050024" y="2880360"/>
            <a:ext cx="237744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2" name="Rounded Rectangle 15381"/>
          <p:cNvSpPr/>
          <p:nvPr/>
        </p:nvSpPr>
        <p:spPr>
          <a:xfrm>
            <a:off x="7278624" y="2395728"/>
            <a:ext cx="2029968" cy="96012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Rounded Rectangle 15382"/>
          <p:cNvSpPr/>
          <p:nvPr/>
        </p:nvSpPr>
        <p:spPr>
          <a:xfrm>
            <a:off x="7388352" y="2514600"/>
            <a:ext cx="384048" cy="310896"/>
          </a:xfrm>
          <a:prstGeom prst="roundRect">
            <a:avLst/>
          </a:prstGeom>
          <a:solidFill>
            <a:srgbClr val="1C8058"/>
          </a:solidFill>
          <a:ln w="12700">
            <a:solidFill>
              <a:srgbClr val="1C8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7845552" y="24688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Voice Companion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7406640" y="2852928"/>
            <a:ext cx="1773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AS • MNI • BN • HI • EN</a:t>
            </a:r>
          </a:p>
        </p:txBody>
      </p:sp>
      <p:cxnSp>
        <p:nvCxnSpPr>
          <p:cNvPr id="15386" name="Connector 15385"/>
          <p:cNvCxnSpPr/>
          <p:nvPr/>
        </p:nvCxnSpPr>
        <p:spPr>
          <a:xfrm>
            <a:off x="9308592" y="2880360"/>
            <a:ext cx="237744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7" name="Rounded Rectangle 15386"/>
          <p:cNvSpPr/>
          <p:nvPr/>
        </p:nvSpPr>
        <p:spPr>
          <a:xfrm>
            <a:off x="9537192" y="2395728"/>
            <a:ext cx="2029968" cy="96012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E1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Rounded Rectangle 15387"/>
          <p:cNvSpPr/>
          <p:nvPr/>
        </p:nvSpPr>
        <p:spPr>
          <a:xfrm>
            <a:off x="9646920" y="2514600"/>
            <a:ext cx="384048" cy="310896"/>
          </a:xfrm>
          <a:prstGeom prst="roundRect">
            <a:avLst/>
          </a:prstGeom>
          <a:solidFill>
            <a:srgbClr val="1C8058"/>
          </a:solidFill>
          <a:ln w="12700">
            <a:solidFill>
              <a:srgbClr val="1C8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10104120" y="2468880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Caregiver Safety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9665208" y="2852928"/>
            <a:ext cx="17739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MoCA Radar • GPS Geofence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502920" y="3675887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2" name="Rectangle 15391"/>
          <p:cNvSpPr/>
          <p:nvPr/>
        </p:nvSpPr>
        <p:spPr>
          <a:xfrm>
            <a:off x="502920" y="3675887"/>
            <a:ext cx="64008" cy="1417320"/>
          </a:xfrm>
          <a:prstGeom prst="rect">
            <a:avLst/>
          </a:prstGeom>
          <a:solidFill>
            <a:srgbClr val="1E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3" name="TextBox 15392"/>
          <p:cNvSpPr txBox="1"/>
          <p:nvPr/>
        </p:nvSpPr>
        <p:spPr>
          <a:xfrm>
            <a:off x="667512" y="3758183"/>
            <a:ext cx="3172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HOW IT ADDRESSES THE PROBLEM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667512" y="4096511"/>
            <a:ext cx="3172968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• Non-pharmacological cognitive therapy tailored to NER culture</a:t>
            </a:r>
          </a:p>
          <a:p>
            <a:r>
              <a:t>• Scaffolding prevents patient agitation and preserves dignity</a:t>
            </a:r>
          </a:p>
          <a:p>
            <a:r>
              <a:t>• 100% offline functionality handles remote hilly terrain</a:t>
            </a:r>
          </a:p>
          <a:p>
            <a:r>
              <a:t>• Automated caregiver telemetry bridges shortage of geriatricians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4160520" y="3675887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6" name="Rectangle 15395"/>
          <p:cNvSpPr/>
          <p:nvPr/>
        </p:nvSpPr>
        <p:spPr>
          <a:xfrm>
            <a:off x="4160520" y="3675887"/>
            <a:ext cx="64008" cy="1417320"/>
          </a:xfrm>
          <a:prstGeom prst="rect">
            <a:avLst/>
          </a:prstGeom>
          <a:solidFill>
            <a:srgbClr val="E0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7" name="TextBox 15396"/>
          <p:cNvSpPr txBox="1"/>
          <p:nvPr/>
        </p:nvSpPr>
        <p:spPr>
          <a:xfrm>
            <a:off x="4325112" y="3758183"/>
            <a:ext cx="3172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INNOVATION / UNIQUENESS</a:t>
            </a:r>
          </a:p>
        </p:txBody>
      </p:sp>
      <p:sp>
        <p:nvSpPr>
          <p:cNvPr id="15398" name="TextBox 15397"/>
          <p:cNvSpPr txBox="1"/>
          <p:nvPr/>
        </p:nvSpPr>
        <p:spPr>
          <a:xfrm>
            <a:off x="4325112" y="4096511"/>
            <a:ext cx="3172968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• Real-time adaptive latency engine, not static memory tests</a:t>
            </a:r>
          </a:p>
          <a:p>
            <a:r>
              <a:t>• Authentic NER motifs: Bihu Dhol, Hornbill, Muga Silk, Majuli</a:t>
            </a:r>
          </a:p>
          <a:p>
            <a:r>
              <a:t>• Sensory agitation calming zone with procedural bamboo flute</a:t>
            </a:r>
          </a:p>
          <a:p>
            <a:r>
              <a:t>• GPS safe-zone wandering simulator for dementia safety</a:t>
            </a:r>
          </a:p>
        </p:txBody>
      </p:sp>
      <p:sp>
        <p:nvSpPr>
          <p:cNvPr id="15399" name="Rounded Rectangle 15398"/>
          <p:cNvSpPr/>
          <p:nvPr/>
        </p:nvSpPr>
        <p:spPr>
          <a:xfrm>
            <a:off x="7818120" y="3675887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0" name="Rectangle 15399"/>
          <p:cNvSpPr/>
          <p:nvPr/>
        </p:nvSpPr>
        <p:spPr>
          <a:xfrm>
            <a:off x="7818120" y="3675887"/>
            <a:ext cx="64008" cy="141732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1" name="TextBox 15400"/>
          <p:cNvSpPr txBox="1"/>
          <p:nvPr/>
        </p:nvSpPr>
        <p:spPr>
          <a:xfrm>
            <a:off x="7982712" y="3758183"/>
            <a:ext cx="3172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MVP OUTPUT</a:t>
            </a:r>
          </a:p>
        </p:txBody>
      </p:sp>
      <p:sp>
        <p:nvSpPr>
          <p:cNvPr id="15402" name="TextBox 15401"/>
          <p:cNvSpPr txBox="1"/>
          <p:nvPr/>
        </p:nvSpPr>
        <p:spPr>
          <a:xfrm>
            <a:off x="7982712" y="4096511"/>
            <a:ext cx="3172968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Patient: Boruah Aita (74, Guwahati)</a:t>
            </a:r>
          </a:p>
          <a:p>
            <a:r>
              <a:t>Cognitive Index: 84% | STABLE</a:t>
            </a:r>
          </a:p>
          <a:p>
            <a:r>
              <a:t>Memory: 78% • Attention: 84% • Latency: 3.2s</a:t>
            </a:r>
          </a:p>
          <a:p>
            <a:r>
              <a:t>Adherence: Routine &amp; Medicines Completed</a:t>
            </a:r>
          </a:p>
          <a:p>
            <a:r>
              <a:t>Safety: Inside Safe Zone (No Wandering Breach)</a:t>
            </a:r>
          </a:p>
        </p:txBody>
      </p:sp>
      <p:sp>
        <p:nvSpPr>
          <p:cNvPr id="15403" name="TextBox 15402"/>
          <p:cNvSpPr txBox="1"/>
          <p:nvPr/>
        </p:nvSpPr>
        <p:spPr>
          <a:xfrm>
            <a:off x="594360" y="5349240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*MoCA-aligned domains are standardized; platform functions fully offline with zero internet dependency in remote NER hills.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>
                <a:solidFill/>
              </a:defRPr>
            </a:pPr>
            <a:r>
              <a:t>TECHNICAL APPROACH &amp; PIPELINE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17410"/>
          <p:cNvSpPr txBox="1"/>
          <p:nvPr/>
        </p:nvSpPr>
        <p:spPr>
          <a:xfrm>
            <a:off x="594360" y="10972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TECHNOLOGY STACK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481328"/>
            <a:ext cx="32461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594360" y="1481328"/>
            <a:ext cx="64008" cy="658368"/>
          </a:xfrm>
          <a:prstGeom prst="rect">
            <a:avLst/>
          </a:prstGeom>
          <a:solidFill>
            <a:srgbClr val="1C8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758952" y="1563624"/>
            <a:ext cx="29900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AI &amp; Adaptive Core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58952" y="1901952"/>
            <a:ext cx="2990087" cy="164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Mathematical Latency Adjuster • Touch Hesitation</a:t>
            </a:r>
          </a:p>
          <a:p>
            <a:r>
              <a:t>Cognitive Fatigue Scoring • Auto-Scaffolding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94360" y="2267712"/>
            <a:ext cx="32461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ectangle 17416"/>
          <p:cNvSpPr/>
          <p:nvPr/>
        </p:nvSpPr>
        <p:spPr>
          <a:xfrm>
            <a:off x="594360" y="2267712"/>
            <a:ext cx="64008" cy="658368"/>
          </a:xfrm>
          <a:prstGeom prst="rect">
            <a:avLst/>
          </a:prstGeom>
          <a:solidFill>
            <a:srgbClr val="1E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758952" y="2350008"/>
            <a:ext cx="29900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Frontend / PWA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758952" y="2688336"/>
            <a:ext cx="2990087" cy="164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React 18 • Vite • Tailwind CSS • Canvas Confetti</a:t>
            </a:r>
          </a:p>
          <a:p>
            <a:r>
              <a:t>WCAG AAA High Contrast &amp; Font Scaler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94360" y="3054096"/>
            <a:ext cx="32461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ectangle 17420"/>
          <p:cNvSpPr/>
          <p:nvPr/>
        </p:nvSpPr>
        <p:spPr>
          <a:xfrm>
            <a:off x="594360" y="3054096"/>
            <a:ext cx="64008" cy="658368"/>
          </a:xfrm>
          <a:prstGeom prst="rect">
            <a:avLst/>
          </a:prstGeom>
          <a:solidFill>
            <a:srgbClr val="E0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758952" y="3136391"/>
            <a:ext cx="29900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Audio &amp; Speech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758952" y="3474720"/>
            <a:ext cx="2990087" cy="164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Web Speech API (AS, MNI, BN, HI, EN)</a:t>
            </a:r>
          </a:p>
          <a:p>
            <a:r>
              <a:t>Web Audio API Procedural Bamboo Flute Synthesis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94360" y="3840480"/>
            <a:ext cx="32461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ectangle 17424"/>
          <p:cNvSpPr/>
          <p:nvPr/>
        </p:nvSpPr>
        <p:spPr>
          <a:xfrm>
            <a:off x="594360" y="3840480"/>
            <a:ext cx="64008" cy="658368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758952" y="3922776"/>
            <a:ext cx="29900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Offline Storage &amp; Sync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758952" y="4261104"/>
            <a:ext cx="2990087" cy="164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IndexedDB • Cache API • PWA Service Worker</a:t>
            </a:r>
          </a:p>
          <a:p>
            <a:r>
              <a:t>Local Telemetry Queue • Tele-Health Sync API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160520" y="109728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ADAPTIVE COGNITIVE PIPELINE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160520" y="1554480"/>
            <a:ext cx="1508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4270248" y="1664208"/>
            <a:ext cx="777240" cy="310896"/>
          </a:xfrm>
          <a:prstGeom prst="roundRect">
            <a:avLst/>
          </a:prstGeom>
          <a:solidFill>
            <a:srgbClr val="1C8058"/>
          </a:solidFill>
          <a:ln w="12700">
            <a:solidFill>
              <a:srgbClr val="1C8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/>
              </a:defRPr>
            </a:pPr>
            <a:r>
              <a:t>TOUCH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270248" y="2057400"/>
            <a:ext cx="1280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Patient Touch</a:t>
            </a:r>
          </a:p>
          <a:p>
            <a:r>
              <a:t>Reaction Latency</a:t>
            </a:r>
          </a:p>
          <a:p>
            <a:r>
              <a:t>Card Choices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5669279" y="2176272"/>
            <a:ext cx="210313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Rounded Rectangle 17432"/>
          <p:cNvSpPr/>
          <p:nvPr/>
        </p:nvSpPr>
        <p:spPr>
          <a:xfrm>
            <a:off x="5989320" y="1554480"/>
            <a:ext cx="1508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6099048" y="1664208"/>
            <a:ext cx="777240" cy="310896"/>
          </a:xfrm>
          <a:prstGeom prst="roundRect">
            <a:avLst/>
          </a:prstGeom>
          <a:solidFill>
            <a:srgbClr val="1C8058"/>
          </a:solidFill>
          <a:ln w="12700">
            <a:solidFill>
              <a:srgbClr val="1C8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/>
              </a:defRPr>
            </a:pPr>
            <a:r>
              <a:t>LATENCY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099048" y="2057400"/>
            <a:ext cx="1280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Hesitation Gap</a:t>
            </a:r>
          </a:p>
          <a:p>
            <a:r>
              <a:t>Rolling Mean</a:t>
            </a:r>
          </a:p>
          <a:p>
            <a:r>
              <a:t>Error Streak Delta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7498079" y="2176272"/>
            <a:ext cx="210313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Rounded Rectangle 17436"/>
          <p:cNvSpPr/>
          <p:nvPr/>
        </p:nvSpPr>
        <p:spPr>
          <a:xfrm>
            <a:off x="7818120" y="1554480"/>
            <a:ext cx="1508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Rounded Rectangle 17437"/>
          <p:cNvSpPr/>
          <p:nvPr/>
        </p:nvSpPr>
        <p:spPr>
          <a:xfrm>
            <a:off x="7927848" y="1664208"/>
            <a:ext cx="777240" cy="310896"/>
          </a:xfrm>
          <a:prstGeom prst="roundRect">
            <a:avLst/>
          </a:prstGeom>
          <a:solidFill>
            <a:srgbClr val="1C8058"/>
          </a:solidFill>
          <a:ln w="12700">
            <a:solidFill>
              <a:srgbClr val="1C8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/>
              </a:defRPr>
            </a:pPr>
            <a:r>
              <a:t>ADAPTIVE AI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7927848" y="2057400"/>
            <a:ext cx="1280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AI Engine</a:t>
            </a:r>
          </a:p>
          <a:p>
            <a:r>
              <a:t>Fatigue Index F_score</a:t>
            </a:r>
          </a:p>
          <a:p>
            <a:r>
              <a:t>Adaptive Level 1–3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9326880" y="2176272"/>
            <a:ext cx="210312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9646920" y="1554480"/>
            <a:ext cx="1508760" cy="1234440"/>
          </a:xfrm>
          <a:prstGeom prst="roundRect">
            <a:avLst/>
          </a:prstGeom>
          <a:solidFill>
            <a:srgbClr val="E5F6ED"/>
          </a:solidFill>
          <a:ln w="12700">
            <a:solidFill>
              <a:srgbClr val="D2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Rounded Rectangle 17441"/>
          <p:cNvSpPr/>
          <p:nvPr/>
        </p:nvSpPr>
        <p:spPr>
          <a:xfrm>
            <a:off x="9756648" y="1664208"/>
            <a:ext cx="777240" cy="310896"/>
          </a:xfrm>
          <a:prstGeom prst="roundRect">
            <a:avLst/>
          </a:prstGeom>
          <a:solidFill>
            <a:srgbClr val="BE4141"/>
          </a:solidFill>
          <a:ln w="1270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/>
              </a:defRPr>
            </a:pPr>
            <a:r>
              <a:t>SCAFFOLD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9756648" y="2057400"/>
            <a:ext cx="1280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Scaffold Trigger</a:t>
            </a:r>
          </a:p>
          <a:p>
            <a:r>
              <a:t>Audio Voice Clue</a:t>
            </a:r>
          </a:p>
          <a:p>
            <a:r>
              <a:t>Visual Card Glow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4160520" y="3063240"/>
            <a:ext cx="33375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Rectangle 17444"/>
          <p:cNvSpPr/>
          <p:nvPr/>
        </p:nvSpPr>
        <p:spPr>
          <a:xfrm>
            <a:off x="4160520" y="3063240"/>
            <a:ext cx="64008" cy="1298448"/>
          </a:xfrm>
          <a:prstGeom prst="rect">
            <a:avLst/>
          </a:prstGeom>
          <a:solidFill>
            <a:srgbClr val="E0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4325112" y="3145536"/>
            <a:ext cx="30815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EXPLAINABLE &amp; GENTLE AI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4325112" y="3483864"/>
            <a:ext cx="3081528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Example: Latency &gt; 6.0s detected</a:t>
            </a:r>
          </a:p>
          <a:p>
            <a:r>
              <a:t>• Hesitation on Bihu Dhol card</a:t>
            </a:r>
          </a:p>
          <a:p>
            <a:r>
              <a:t>• Auto-triggers gentle spoken regional cue</a:t>
            </a:r>
          </a:p>
          <a:p>
            <a:r>
              <a:t>• Reduces level if fatigue &gt; 75%</a:t>
            </a:r>
          </a:p>
          <a:p>
            <a:r>
              <a:t>Preserves dignity; avoids testing anxiety.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7726679" y="3063240"/>
            <a:ext cx="34290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Rectangle 17448"/>
          <p:cNvSpPr/>
          <p:nvPr/>
        </p:nvSpPr>
        <p:spPr>
          <a:xfrm>
            <a:off x="7726679" y="3063240"/>
            <a:ext cx="64008" cy="1298448"/>
          </a:xfrm>
          <a:prstGeom prst="rect">
            <a:avLst/>
          </a:prstGeom>
          <a:solidFill>
            <a:srgbClr val="1E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7891271" y="3145536"/>
            <a:ext cx="3172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DEPLOYMENT MODEL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7891271" y="3483864"/>
            <a:ext cx="3172968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Home: Elderly tablet / touch device</a:t>
            </a:r>
          </a:p>
          <a:p>
            <a:r>
              <a:t>Caregiver: PIN-protected portal</a:t>
            </a:r>
          </a:p>
          <a:p>
            <a:r>
              <a:t>Clinics: Community Health Center kiosks</a:t>
            </a:r>
          </a:p>
          <a:p>
            <a:r>
              <a:t>100% offline-ready across all modes.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4160520" y="4617720"/>
            <a:ext cx="6903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SYSTEM FLOW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4160520" y="4965192"/>
            <a:ext cx="1261872" cy="713232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4233672" y="5120640"/>
            <a:ext cx="11155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/>
              </a:defRPr>
            </a:pPr>
            <a:r>
              <a:t>Patient</a:t>
            </a:r>
          </a:p>
          <a:p>
            <a:r>
              <a:t>Interaction</a:t>
            </a:r>
          </a:p>
        </p:txBody>
      </p:sp>
      <p:cxnSp>
        <p:nvCxnSpPr>
          <p:cNvPr id="17455" name="Connector 17454"/>
          <p:cNvCxnSpPr/>
          <p:nvPr/>
        </p:nvCxnSpPr>
        <p:spPr>
          <a:xfrm>
            <a:off x="5422392" y="5321808"/>
            <a:ext cx="155448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6" name="Rounded Rectangle 17455"/>
          <p:cNvSpPr/>
          <p:nvPr/>
        </p:nvSpPr>
        <p:spPr>
          <a:xfrm>
            <a:off x="5623560" y="4965192"/>
            <a:ext cx="1261872" cy="713232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5696712" y="5120640"/>
            <a:ext cx="11155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/>
              </a:defRPr>
            </a:pPr>
            <a:r>
              <a:t>Telemetry</a:t>
            </a:r>
          </a:p>
          <a:p>
            <a:r>
              <a:t>Engine</a:t>
            </a:r>
          </a:p>
        </p:txBody>
      </p:sp>
      <p:cxnSp>
        <p:nvCxnSpPr>
          <p:cNvPr id="17458" name="Connector 17457"/>
          <p:cNvCxnSpPr/>
          <p:nvPr/>
        </p:nvCxnSpPr>
        <p:spPr>
          <a:xfrm>
            <a:off x="6885432" y="5321808"/>
            <a:ext cx="155448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9" name="Rounded Rectangle 17458"/>
          <p:cNvSpPr/>
          <p:nvPr/>
        </p:nvSpPr>
        <p:spPr>
          <a:xfrm>
            <a:off x="7086600" y="4965192"/>
            <a:ext cx="1261872" cy="713232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TextBox 17459"/>
          <p:cNvSpPr txBox="1"/>
          <p:nvPr/>
        </p:nvSpPr>
        <p:spPr>
          <a:xfrm>
            <a:off x="7159752" y="5120640"/>
            <a:ext cx="11155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/>
              </a:defRPr>
            </a:pPr>
            <a:r>
              <a:t>Adaptive</a:t>
            </a:r>
          </a:p>
          <a:p>
            <a:r>
              <a:t>AI Core</a:t>
            </a:r>
          </a:p>
        </p:txBody>
      </p:sp>
      <p:cxnSp>
        <p:nvCxnSpPr>
          <p:cNvPr id="17461" name="Connector 17460"/>
          <p:cNvCxnSpPr/>
          <p:nvPr/>
        </p:nvCxnSpPr>
        <p:spPr>
          <a:xfrm>
            <a:off x="8348471" y="5321808"/>
            <a:ext cx="155449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2" name="Rounded Rectangle 17461"/>
          <p:cNvSpPr/>
          <p:nvPr/>
        </p:nvSpPr>
        <p:spPr>
          <a:xfrm>
            <a:off x="8549640" y="4965192"/>
            <a:ext cx="1261872" cy="713232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TextBox 17462"/>
          <p:cNvSpPr txBox="1"/>
          <p:nvPr/>
        </p:nvSpPr>
        <p:spPr>
          <a:xfrm>
            <a:off x="8622792" y="5120640"/>
            <a:ext cx="11155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/>
              </a:defRPr>
            </a:pPr>
            <a:r>
              <a:t>IndexedDB</a:t>
            </a:r>
          </a:p>
          <a:p>
            <a:r>
              <a:t>Local Cache</a:t>
            </a:r>
          </a:p>
        </p:txBody>
      </p:sp>
      <p:cxnSp>
        <p:nvCxnSpPr>
          <p:cNvPr id="17464" name="Connector 17463"/>
          <p:cNvCxnSpPr/>
          <p:nvPr/>
        </p:nvCxnSpPr>
        <p:spPr>
          <a:xfrm>
            <a:off x="9811512" y="5321808"/>
            <a:ext cx="155448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5" name="Rounded Rectangle 17464"/>
          <p:cNvSpPr/>
          <p:nvPr/>
        </p:nvSpPr>
        <p:spPr>
          <a:xfrm>
            <a:off x="10012680" y="4965192"/>
            <a:ext cx="1261872" cy="713232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6" name="TextBox 17465"/>
          <p:cNvSpPr txBox="1"/>
          <p:nvPr/>
        </p:nvSpPr>
        <p:spPr>
          <a:xfrm>
            <a:off x="10085832" y="5120640"/>
            <a:ext cx="11155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/>
              </a:defRPr>
            </a:pPr>
            <a:r>
              <a:t>Caregiver</a:t>
            </a:r>
          </a:p>
          <a:p>
            <a:r>
              <a:t>Doctor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>
                <a:solidFill/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594360" y="1143000"/>
            <a:ext cx="34290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594360" y="1143000"/>
            <a:ext cx="64008" cy="4343400"/>
          </a:xfrm>
          <a:prstGeom prst="rect">
            <a:avLst/>
          </a:prstGeom>
          <a:solidFill>
            <a:srgbClr val="1C8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758952" y="1225296"/>
            <a:ext cx="3172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FEASIBILITY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58952" y="1563624"/>
            <a:ext cx="3172968" cy="3849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• Ultra-lightweight client-side architecture</a:t>
            </a:r>
          </a:p>
          <a:p>
            <a:r>
              <a:t>• Runs smoothly on affordable budget tablets</a:t>
            </a:r>
          </a:p>
          <a:p>
            <a:r>
              <a:t>• 100% offline functionality requires 0kb mobile data</a:t>
            </a:r>
          </a:p>
          <a:p>
            <a:r>
              <a:t>• Procedural Web Audio avoids large audio downloads</a:t>
            </a:r>
          </a:p>
          <a:p>
            <a:r>
              <a:t>• React + Vite enables modular, extensible development</a:t>
            </a:r>
          </a:p>
          <a:p>
            <a:r>
              <a:t>• Highly scalable across North Eastern rural districts</a:t>
            </a:r>
          </a:p>
          <a:p/>
          <a:p>
            <a:r>
              <a:t>Prototype → Community Health Centers → District Hospitals → Regional Scale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251960" y="1143000"/>
            <a:ext cx="34290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4251960" y="1143000"/>
            <a:ext cx="64008" cy="434340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4416552" y="1225296"/>
            <a:ext cx="3172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CHALLENGES &amp; RISKS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416552" y="1563624"/>
            <a:ext cx="3172968" cy="3849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• Spotty digital connectivity in hilly terrains</a:t>
            </a:r>
          </a:p>
          <a:p>
            <a:r>
              <a:t>• Diverse dialects across 8 North Eastern states</a:t>
            </a:r>
          </a:p>
          <a:p>
            <a:r>
              <a:t>• Low digital familiarity among elderly patients</a:t>
            </a:r>
          </a:p>
          <a:p>
            <a:r>
              <a:t>• Sensory agitation / sundowning in dementia</a:t>
            </a:r>
          </a:p>
          <a:p>
            <a:r>
              <a:t>• Wandering risks in hazardous hilly terrains</a:t>
            </a:r>
          </a:p>
          <a:p>
            <a:r>
              <a:t>• Severe shortage of specialized geriatricians</a:t>
            </a:r>
          </a:p>
          <a:p/>
          <a:p>
            <a:r>
              <a:t>Non-pharmacological assistance, not replacement for acute medical care.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909560" y="1143000"/>
            <a:ext cx="32461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ectangle 17419"/>
          <p:cNvSpPr/>
          <p:nvPr/>
        </p:nvSpPr>
        <p:spPr>
          <a:xfrm>
            <a:off x="7909560" y="1143000"/>
            <a:ext cx="64008" cy="4343400"/>
          </a:xfrm>
          <a:prstGeom prst="rect">
            <a:avLst/>
          </a:prstGeom>
          <a:solidFill>
            <a:srgbClr val="1E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8074152" y="1225296"/>
            <a:ext cx="29900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MITIGATION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074152" y="1563624"/>
            <a:ext cx="2990087" cy="3849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• Offline-First IndexedDB local caching</a:t>
            </a:r>
          </a:p>
          <a:p>
            <a:r>
              <a:t>• Multi-lingual voice in Assamese, Meitei, Bengali, Hindi</a:t>
            </a:r>
          </a:p>
          <a:p>
            <a:r>
              <a:t>• Senior-accessible UX (&gt;52px targets, AAA contrast)</a:t>
            </a:r>
          </a:p>
          <a:p>
            <a:r>
              <a:t>• Peaceful sensory calming zone (bamboo flute &amp; breathing)</a:t>
            </a:r>
          </a:p>
          <a:p>
            <a:r>
              <a:t>• GPS Safe-Zone Wandering simulator with SMS alert</a:t>
            </a:r>
          </a:p>
          <a:p>
            <a:r>
              <a:t>• MoCA-aligned radar charts &amp; one-click clinical PDF</a:t>
            </a:r>
          </a:p>
          <a:p>
            <a:r>
              <a:t>• Tested with regional geriatric caregivers</a:t>
            </a:r>
          </a:p>
          <a:p>
            <a:r>
              <a:t>• Voice-first guidance for zero literacy barriers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>
                <a:solidFill/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17410"/>
          <p:cNvSpPr txBox="1"/>
          <p:nvPr/>
        </p:nvSpPr>
        <p:spPr>
          <a:xfrm>
            <a:off x="594360" y="107899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WHO BENEFITS?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490472"/>
            <a:ext cx="2514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704088" y="1609344"/>
            <a:ext cx="1143000" cy="310896"/>
          </a:xfrm>
          <a:prstGeom prst="roundRect">
            <a:avLst/>
          </a:prstGeom>
          <a:solidFill>
            <a:srgbClr val="1C8058"/>
          </a:solidFill>
          <a:ln w="12700">
            <a:solidFill>
              <a:srgbClr val="1C8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/>
              </a:defRPr>
            </a:pPr>
            <a:r>
              <a:t>Elderly Patients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04088" y="1993392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Cognitive stimulation &amp; dignity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337560" y="1490472"/>
            <a:ext cx="2514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3447288" y="1609344"/>
            <a:ext cx="1143000" cy="310896"/>
          </a:xfrm>
          <a:prstGeom prst="roundRect">
            <a:avLst/>
          </a:prstGeom>
          <a:solidFill>
            <a:srgbClr val="1E787D"/>
          </a:solidFill>
          <a:ln w="12700">
            <a:solidFill>
              <a:srgbClr val="1E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/>
              </a:defRPr>
            </a:pPr>
            <a:r>
              <a:t>Family Caregivers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447288" y="1993392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Reduced stress &amp; wandering alert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080760" y="1490472"/>
            <a:ext cx="2514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6190488" y="1609344"/>
            <a:ext cx="1143000" cy="310896"/>
          </a:xfrm>
          <a:prstGeom prst="roundRect">
            <a:avLst/>
          </a:prstGeom>
          <a:solidFill>
            <a:srgbClr val="E07E2C"/>
          </a:solidFill>
          <a:ln w="12700">
            <a:solidFill>
              <a:srgbClr val="E07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/>
              </a:defRPr>
            </a:pPr>
            <a:r>
              <a:t>Geriatricians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190488" y="1993392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Objective 7-day MoCA telemetry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823960" y="1490472"/>
            <a:ext cx="2514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8933688" y="1609344"/>
            <a:ext cx="1143000" cy="310896"/>
          </a:xfrm>
          <a:prstGeom prst="roundRect">
            <a:avLst/>
          </a:prstGeom>
          <a:solidFill>
            <a:srgbClr val="BE4141"/>
          </a:solidFill>
          <a:ln w="1270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/>
              </a:defRPr>
            </a:pPr>
            <a:r>
              <a:t>MDoNER &amp; CHCs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8933688" y="1993392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Scalable rural elderly care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594360" y="26974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PATIENT CARE VALUE CHAIN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94360" y="3127248"/>
            <a:ext cx="2240280" cy="86868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704088" y="3319272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/>
              </a:defRPr>
            </a:pPr>
            <a:r>
              <a:t>Early</a:t>
            </a:r>
          </a:p>
          <a:p>
            <a:r>
              <a:t>Stimulation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2834640" y="3566160"/>
            <a:ext cx="246888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Rounded Rectangle 17427"/>
          <p:cNvSpPr/>
          <p:nvPr/>
        </p:nvSpPr>
        <p:spPr>
          <a:xfrm>
            <a:off x="3108960" y="3127248"/>
            <a:ext cx="2240280" cy="86868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3218688" y="3319272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/>
              </a:defRPr>
            </a:pPr>
            <a:r>
              <a:t>Dignified</a:t>
            </a:r>
          </a:p>
          <a:p>
            <a:r>
              <a:t>Scaffolding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5349240" y="3566160"/>
            <a:ext cx="246888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Rounded Rectangle 17430"/>
          <p:cNvSpPr/>
          <p:nvPr/>
        </p:nvSpPr>
        <p:spPr>
          <a:xfrm>
            <a:off x="5623560" y="3127248"/>
            <a:ext cx="2240280" cy="86868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5733288" y="3319272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/>
              </a:defRPr>
            </a:pPr>
            <a:r>
              <a:t>Reduced</a:t>
            </a:r>
          </a:p>
          <a:p>
            <a:r>
              <a:t>Agitation</a:t>
            </a:r>
          </a:p>
        </p:txBody>
      </p:sp>
      <p:cxnSp>
        <p:nvCxnSpPr>
          <p:cNvPr id="17433" name="Connector 17432"/>
          <p:cNvCxnSpPr/>
          <p:nvPr/>
        </p:nvCxnSpPr>
        <p:spPr>
          <a:xfrm>
            <a:off x="7863840" y="3566160"/>
            <a:ext cx="246888" cy="0"/>
          </a:xfrm>
          <a:prstGeom prst="line">
            <a:avLst/>
          </a:prstGeom>
          <a:ln w="19050">
            <a:solidFill>
              <a:srgbClr val="5C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4" name="Rounded Rectangle 17433"/>
          <p:cNvSpPr/>
          <p:nvPr/>
        </p:nvSpPr>
        <p:spPr>
          <a:xfrm>
            <a:off x="8138160" y="3127248"/>
            <a:ext cx="2240280" cy="86868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8247888" y="3319272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>
                <a:solidFill/>
              </a:defRPr>
            </a:pPr>
            <a:r>
              <a:t>Family</a:t>
            </a:r>
          </a:p>
          <a:p>
            <a:r>
              <a:t>Reassurance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594360" y="4315968"/>
            <a:ext cx="4983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Rectangle 17436"/>
          <p:cNvSpPr/>
          <p:nvPr/>
        </p:nvSpPr>
        <p:spPr>
          <a:xfrm>
            <a:off x="594360" y="4315968"/>
            <a:ext cx="64008" cy="1143000"/>
          </a:xfrm>
          <a:prstGeom prst="rect">
            <a:avLst/>
          </a:prstGeom>
          <a:solidFill>
            <a:srgbClr val="1C8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758952" y="4398264"/>
            <a:ext cx="4727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SOCIAL &amp; ECONOMIC IMPACT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758952" y="4736592"/>
            <a:ext cx="472744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• Directly addresses the severe geriatric healthcare deficit in NER</a:t>
            </a:r>
          </a:p>
          <a:p>
            <a:r>
              <a:t>• Lowers avoidable hospitalizations and wandering emergencies</a:t>
            </a:r>
          </a:p>
          <a:p>
            <a:r>
              <a:t>• Preserves indigenous cultural memories, folk songs, and dialects</a:t>
            </a:r>
          </a:p>
          <a:p>
            <a:r>
              <a:t>• Provides equal healthcare access to rural and tribal communities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5806440" y="4315968"/>
            <a:ext cx="5349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Rectangle 17440"/>
          <p:cNvSpPr/>
          <p:nvPr/>
        </p:nvSpPr>
        <p:spPr>
          <a:xfrm>
            <a:off x="5806440" y="4315968"/>
            <a:ext cx="64008" cy="1143000"/>
          </a:xfrm>
          <a:prstGeom prst="rect">
            <a:avLst/>
          </a:prstGeom>
          <a:solidFill>
            <a:srgbClr val="1E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5971031" y="4398264"/>
            <a:ext cx="509320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SCALABILITY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5971031" y="4736592"/>
            <a:ext cx="5093207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One patient → One family → Community Health Centers → District hospital → 8 NER States → Pan-India</a:t>
            </a:r>
          </a:p>
          <a:p>
            <a:r>
              <a:t>Hardware-agnostic • Zero data cost • Multi-lingual • Standardized MoCA framework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>
                <a:solidFill/>
              </a:defRPr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17410"/>
          <p:cNvSpPr txBox="1"/>
          <p:nvPr/>
        </p:nvSpPr>
        <p:spPr>
          <a:xfrm>
            <a:off x="594360" y="107899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RESEARCH BASIS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94360" y="1417320"/>
            <a:ext cx="105156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The SmritiNER platform is grounded in peer-reviewed clinical research on cognitive stimulation therapy, the Montreal Cognitive Assessment (MoCA), non-pharmacological dementia care, and geriatric health in India.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94360" y="1965960"/>
            <a:ext cx="10561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758952" y="2057400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[1] Nasreddine, Z. S. et al. (2005).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834640" y="2048255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The Montreal Cognitive Assessment, MoCA: A brief screening tool for mild cognitive impairment. Journal of the American Geriatrics Society, 53(4), 695–699. DOI: 10.1111/j.1532-5415.2005.53221.x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94360" y="2688336"/>
            <a:ext cx="10561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758952" y="2779776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[2] Woods, B. et al. (2018).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2834640" y="2770632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Reminiscence therapy for dementia. Cochrane Database of Systematic Reviews, 3(3), CD001120. DOI: 10.1002/14651858.CD001120.pub3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94360" y="3410712"/>
            <a:ext cx="10561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758952" y="3502152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[3] Livingston, G. et al. (2020).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834640" y="3493008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Dementia prevention, intervention, and care: 2020 report of the Lancet Commission. The Lancet, 396(10248), 413–446. DOI: 10.1016/S0140-6736(20)30367-6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94360" y="4133087"/>
            <a:ext cx="10561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758952" y="4224527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[4] MDoNER &amp; MoHFW (2023).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2834640" y="4215383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Assessment of Geriatric Care and Specialized Mental Health Facilities in the North Eastern Region of India. Government of India Policy Report.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94360" y="4855464"/>
            <a:ext cx="10561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758952" y="4946903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[5] WHO (2021).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2834640" y="4937759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Global status report on the public health response to dementia. World Health Organization, Geneva. Non-pharmacological cognitive stimulation guidelines.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94360" y="5632704"/>
            <a:ext cx="10561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/>
              </a:defRPr>
            </a:pPr>
            <a:r>
              <a:t>Verified clinical sources: The Lancet • Cochrane Library • JAGS • PubMed • WHO • Ministry of Development of North Eastern Region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